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3"/>
  </p:notesMasterIdLst>
  <p:handoutMasterIdLst>
    <p:handoutMasterId r:id="rId14"/>
  </p:handoutMasterIdLst>
  <p:sldIdLst>
    <p:sldId id="422" r:id="rId2"/>
    <p:sldId id="426" r:id="rId3"/>
    <p:sldId id="435" r:id="rId4"/>
    <p:sldId id="431" r:id="rId5"/>
    <p:sldId id="432" r:id="rId6"/>
    <p:sldId id="433" r:id="rId7"/>
    <p:sldId id="434" r:id="rId8"/>
    <p:sldId id="424" r:id="rId9"/>
    <p:sldId id="427" r:id="rId10"/>
    <p:sldId id="425" r:id="rId11"/>
    <p:sldId id="423" r:id="rId12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>
      <p:cViewPr varScale="1">
        <p:scale>
          <a:sx n="123" d="100"/>
          <a:sy n="123" d="100"/>
        </p:scale>
        <p:origin x="120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575" cy="51276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1"/>
            <a:ext cx="3076575" cy="51276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15C9C8B2-CCCB-4C28-A703-FF9FEAC160D5}" type="datetimeFigureOut">
              <a:rPr lang="de-CH" smtClean="0"/>
              <a:t>15.03.2021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6575" cy="512763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1"/>
            <a:ext cx="3076575" cy="512763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AB979346-6D3E-453D-96C5-05FB423609E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13675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4754" tIns="47377" rIns="94754" bIns="47377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4754" tIns="47377" rIns="94754" bIns="47377" rtlCol="0"/>
          <a:lstStyle>
            <a:lvl1pPr algn="r">
              <a:defRPr sz="1200"/>
            </a:lvl1pPr>
          </a:lstStyle>
          <a:p>
            <a:fld id="{D8ED537D-07EB-40DC-99B9-94F1B00F121E}" type="datetimeFigureOut">
              <a:rPr lang="de-CH" smtClean="0"/>
              <a:t>15.03.2021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4" tIns="47377" rIns="94754" bIns="47377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4754" tIns="47377" rIns="94754" bIns="47377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54" tIns="47377" rIns="94754" bIns="47377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54" tIns="47377" rIns="94754" bIns="47377" rtlCol="0" anchor="b"/>
          <a:lstStyle>
            <a:lvl1pPr algn="r">
              <a:defRPr sz="1200"/>
            </a:lvl1pPr>
          </a:lstStyle>
          <a:p>
            <a:fld id="{FD2F96F1-41E0-4F9A-9038-596A2707026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023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12192000" cy="6867258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 dirty="0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3335" y="679932"/>
            <a:ext cx="8218666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 dirty="0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39470" y="1910669"/>
            <a:ext cx="6552531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6181" y="3239458"/>
            <a:ext cx="6787409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198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1531" y="1533510"/>
            <a:ext cx="2690418" cy="1264388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0948" y="5641975"/>
            <a:ext cx="1444347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199">
                <a:latin typeface="+mn-lt"/>
              </a:defRPr>
            </a:lvl1pPr>
          </a:lstStyle>
          <a:p>
            <a:fld id="{264CC842-4DE8-4AA6-BC4B-F04B1ED0069B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200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6181" y="6200774"/>
            <a:ext cx="5538872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199">
                <a:latin typeface="+mn-lt"/>
              </a:defRPr>
            </a:lvl1pPr>
          </a:lstStyle>
          <a:p>
            <a:pPr lvl="0"/>
            <a:r>
              <a:rPr lang="de-CH" dirty="0"/>
              <a:t>Departement / Abteilung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6181" y="4410389"/>
            <a:ext cx="6787409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999" b="1" baseline="0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0949" y="5342714"/>
            <a:ext cx="5544105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>
                <a:latin typeface="+mn-lt"/>
              </a:defRPr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</p:spTree>
    <p:extLst>
      <p:ext uri="{BB962C8B-B14F-4D97-AF65-F5344CB8AC3E}">
        <p14:creationId xmlns:p14="http://schemas.microsoft.com/office/powerpoint/2010/main" val="844059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6442" y="5947634"/>
            <a:ext cx="1557598" cy="732008"/>
          </a:xfrm>
          <a:prstGeom prst="rect">
            <a:avLst/>
          </a:prstGeom>
        </p:spPr>
      </p:pic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Tipp: Zuerst das Bild einfügen (über das Bild-Icon), dann den Titel eingeben.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5752" y="3427354"/>
            <a:ext cx="5954290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3998" b="1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326069" y="6453188"/>
            <a:ext cx="3375587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199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9A174D-0E41-4B3E-BB70-D85465897A57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5314" y="4224664"/>
            <a:ext cx="4061884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1999" baseline="0">
                <a:solidFill>
                  <a:schemeClr val="bg1"/>
                </a:solidFill>
              </a:defRPr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326069" y="5949950"/>
            <a:ext cx="3363301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/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06031" y="5949951"/>
            <a:ext cx="5361371" cy="25082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/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lvl="0"/>
            <a:r>
              <a:rPr lang="de-CH" dirty="0"/>
              <a:t>Departement / Abteilung</a:t>
            </a:r>
          </a:p>
        </p:txBody>
      </p:sp>
    </p:spTree>
    <p:extLst>
      <p:ext uri="{BB962C8B-B14F-4D97-AF65-F5344CB8AC3E}">
        <p14:creationId xmlns:p14="http://schemas.microsoft.com/office/powerpoint/2010/main" val="255377025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7F6D-8891-40E1-8522-6366D135ABEA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1082" y="333375"/>
            <a:ext cx="5362958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29" y="2213150"/>
            <a:ext cx="5361372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5361371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 baseline="0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5459745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200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11048009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F6CE7-67CC-435F-9F5E-A1AEBDE861EC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30" y="2213150"/>
            <a:ext cx="7367796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36725509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031" y="1449387"/>
            <a:ext cx="11048009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729" marR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999" baseline="0"/>
            </a:lvl1pPr>
            <a:lvl2pPr marL="360183" indent="-360183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1999" b="1" baseline="0"/>
            </a:lvl2pPr>
            <a:lvl3pPr marL="628336" indent="-26815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baseline="0"/>
            </a:lvl3pPr>
            <a:lvl4pPr marL="894902" indent="-206272">
              <a:spcBef>
                <a:spcPts val="400"/>
              </a:spcBef>
              <a:spcAft>
                <a:spcPts val="0"/>
              </a:spcAft>
              <a:defRPr/>
            </a:lvl4pPr>
            <a:lvl5pPr marL="1163056" indent="-230073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Thema 1 [Ebene 1]</a:t>
            </a:r>
          </a:p>
          <a:p>
            <a:pPr lvl="1"/>
            <a:r>
              <a:rPr lang="de-DE" dirty="0"/>
              <a:t>Thema 2 aktiv [Ebene 2]</a:t>
            </a:r>
          </a:p>
          <a:p>
            <a:pPr lvl="2"/>
            <a:r>
              <a:rPr lang="de-DE" dirty="0"/>
              <a:t>Unterthema 1 [Ebene 3]</a:t>
            </a:r>
          </a:p>
          <a:p>
            <a:pPr lvl="2"/>
            <a:r>
              <a:rPr lang="de-DE" dirty="0"/>
              <a:t>Unterthema 2 [Ebene 3]</a:t>
            </a:r>
          </a:p>
          <a:p>
            <a:pPr marL="342729" marR="0" lvl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Thema 3 [Ebene 1]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37E42-749D-4FBB-A818-2A07BB48FFC0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031" y="333377"/>
            <a:ext cx="11048009" cy="287337"/>
          </a:xfrm>
        </p:spPr>
        <p:txBody>
          <a:bodyPr/>
          <a:lstStyle>
            <a:lvl1pPr>
              <a:defRPr lang="de-DE" sz="1999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Agenda-Titel eingeben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3138884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>
          <a:xfrm>
            <a:off x="806031" y="1449389"/>
            <a:ext cx="11048009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4354264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AD21A-6E20-4E2B-AEDB-7088F015233B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11048009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>
          <a:xfrm>
            <a:off x="806031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/>
          </p:nvPr>
        </p:nvSpPr>
        <p:spPr>
          <a:xfrm>
            <a:off x="6492669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1316641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8848EAD-CB32-45AE-995A-E1C2778C9FC7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031" y="1449389"/>
            <a:ext cx="5361783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1686" y="1449389"/>
            <a:ext cx="5351180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5"/>
          </p:nvPr>
        </p:nvSpPr>
        <p:spPr>
          <a:xfrm>
            <a:off x="806031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/>
          </p:nvPr>
        </p:nvSpPr>
        <p:spPr>
          <a:xfrm>
            <a:off x="6491083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196741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27913" y="333375"/>
            <a:ext cx="4426127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5A58-4B65-4567-BA46-A4420E983158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/>
          </p:nvPr>
        </p:nvSpPr>
        <p:spPr>
          <a:xfrm>
            <a:off x="806030" y="1449389"/>
            <a:ext cx="633400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30" y="334040"/>
            <a:ext cx="6334002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6334001" cy="684213"/>
          </a:xfrm>
        </p:spPr>
        <p:txBody>
          <a:bodyPr/>
          <a:lstStyle>
            <a:lvl1pPr>
              <a:lnSpc>
                <a:spcPct val="100000"/>
              </a:lnSpc>
              <a:defRPr sz="2799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459068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94A9E40-7240-4F8C-91F5-7243BE9F6D2D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28545432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85F5-C6E5-4C4C-B2F6-06E8354F62AE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26351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3B2C-638F-41DD-91D2-E7ADFBC8BEC0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200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173711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18.04.2016/G.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60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11048009" cy="6842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de-DE" dirty="0"/>
              <a:t>Titel Inhaltsfolie einzeilig</a:t>
            </a:r>
            <a:endParaRPr lang="de-CH" dirty="0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540" y="6454846"/>
            <a:ext cx="5872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1083" y="6453187"/>
            <a:ext cx="3374892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99"/>
            </a:lvl1pPr>
          </a:lstStyle>
          <a:p>
            <a:fld id="{88D045DE-9EA8-4D00-A06A-18A4CA464667}" type="datetime4">
              <a:rPr lang="de-CH" smtClean="0"/>
              <a:t>15. März 2021</a:t>
            </a:fld>
            <a:endParaRPr lang="de-CH" dirty="0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031" y="6454846"/>
            <a:ext cx="5361371" cy="332663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199"/>
            </a:lvl1pPr>
          </a:lstStyle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856" y="6453188"/>
            <a:ext cx="53717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199">
                <a:solidFill>
                  <a:schemeClr val="tx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540" y="1449389"/>
            <a:ext cx="11051498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4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47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/>
  <p:txStyles>
    <p:titleStyle>
      <a:lvl1pPr algn="l" defTabSz="609463" rtl="0" eaLnBrk="1" latinLnBrk="0" hangingPunct="1">
        <a:lnSpc>
          <a:spcPct val="120000"/>
        </a:lnSpc>
        <a:spcBef>
          <a:spcPct val="0"/>
        </a:spcBef>
        <a:buNone/>
        <a:defRPr sz="3198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1874" indent="-251874" algn="l" defTabSz="609463" rtl="0" eaLnBrk="1" latinLnBrk="0" hangingPunct="1">
        <a:spcBef>
          <a:spcPts val="1799"/>
        </a:spcBef>
        <a:buClr>
          <a:schemeClr val="tx2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503748" indent="-251874" algn="l" defTabSz="609463" rtl="0" eaLnBrk="1" latinLnBrk="0" hangingPunct="1">
        <a:spcBef>
          <a:spcPts val="1199"/>
        </a:spcBef>
        <a:buClr>
          <a:schemeClr val="tx1"/>
        </a:buClr>
        <a:buSzPct val="80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755622" indent="-251874" algn="l" defTabSz="609463" rtl="0" eaLnBrk="1" latinLnBrk="0" hangingPunct="1">
        <a:spcBef>
          <a:spcPts val="999"/>
        </a:spcBef>
        <a:buSzPct val="90000"/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3pPr>
      <a:lvl4pPr marL="1007496" indent="-251874" algn="l" defTabSz="609463" rtl="0" eaLnBrk="1" latinLnBrk="0" hangingPunct="1"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1259370" marR="0" indent="-251874" algn="l" defTabSz="609463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1511244" indent="-251874" algn="l" defTabSz="610882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3118" indent="-251874" algn="l" defTabSz="609463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970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0433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63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925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88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851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314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777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239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702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1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sp>
        <p:nvSpPr>
          <p:cNvPr id="9" name="Rechteck 8"/>
          <p:cNvSpPr/>
          <p:nvPr/>
        </p:nvSpPr>
        <p:spPr>
          <a:xfrm>
            <a:off x="806030" y="1310426"/>
            <a:ext cx="1076257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dirty="0"/>
              <a:t>Berechnen Sie die Winkeleinstellungen für einen SCARA-Roboter (Theta1, Theta2) für folgende Bahnbewegung:</a:t>
            </a:r>
          </a:p>
          <a:p>
            <a:endParaRPr lang="de-CH" dirty="0"/>
          </a:p>
          <a:p>
            <a:r>
              <a:rPr lang="de-CH" dirty="0"/>
              <a:t>Die Bewegung von Punkt P</a:t>
            </a:r>
            <a:r>
              <a:rPr lang="de-CH" baseline="-25000" dirty="0"/>
              <a:t>1</a:t>
            </a:r>
            <a:r>
              <a:rPr lang="de-CH" dirty="0"/>
              <a:t> in P</a:t>
            </a:r>
            <a:r>
              <a:rPr lang="de-CH" baseline="-25000" dirty="0"/>
              <a:t>2</a:t>
            </a:r>
            <a:r>
              <a:rPr lang="de-CH" dirty="0"/>
              <a:t> sollen auf einer gradlinigen Bahn stattfinden und eine maximale Geschwindigkeit v = 0.5m/s und einer Beschleunigung auf der Bahn a = 0.75m/s</a:t>
            </a:r>
            <a:r>
              <a:rPr lang="de-CH" baseline="30000" dirty="0"/>
              <a:t>2 </a:t>
            </a:r>
            <a:r>
              <a:rPr lang="de-CH" dirty="0"/>
              <a:t>erreichen.</a:t>
            </a:r>
            <a:endParaRPr lang="de-CH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CH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CH" dirty="0"/>
              <a:t>Punkte:</a:t>
            </a:r>
            <a:endParaRPr lang="de-CH" b="1" dirty="0"/>
          </a:p>
          <a:p>
            <a:endParaRPr lang="de-CH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CH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CH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CH" dirty="0"/>
              <a:t>Daten des SCARA Roboters:	l</a:t>
            </a:r>
            <a:r>
              <a:rPr lang="de-CH" baseline="-25000" dirty="0"/>
              <a:t>1</a:t>
            </a:r>
            <a:r>
              <a:rPr lang="de-CH" dirty="0"/>
              <a:t> = 1m; Länge des Schwenkarmes 1</a:t>
            </a:r>
            <a:endParaRPr lang="de-CH" b="1" dirty="0"/>
          </a:p>
          <a:p>
            <a:r>
              <a:rPr lang="de-CH" dirty="0"/>
              <a:t>				l</a:t>
            </a:r>
            <a:r>
              <a:rPr lang="de-CH" baseline="-25000" dirty="0"/>
              <a:t>2</a:t>
            </a:r>
            <a:r>
              <a:rPr lang="de-CH" dirty="0"/>
              <a:t> = 1m; Länge des Schwenkarmes 2</a:t>
            </a:r>
            <a:endParaRPr lang="de-CH" b="1" dirty="0"/>
          </a:p>
          <a:p>
            <a:r>
              <a:rPr lang="de-CH" dirty="0"/>
              <a:t> </a:t>
            </a:r>
            <a:endParaRPr lang="de-CH" b="1" dirty="0"/>
          </a:p>
          <a:p>
            <a:r>
              <a:rPr lang="de-CH" dirty="0"/>
              <a:t>Berechnen Sie die Bahnsollwerte, wenn alle 5ms neue Sollwerte für den Punkt P</a:t>
            </a:r>
            <a:r>
              <a:rPr lang="de-CH" baseline="-25000" dirty="0"/>
              <a:t>i</a:t>
            </a:r>
            <a:r>
              <a:rPr lang="de-CH" dirty="0"/>
              <a:t> an die Achsregelung ausgegeben werden (MATLAB verwenden).</a:t>
            </a:r>
            <a:endParaRPr lang="de-CH" b="1" dirty="0"/>
          </a:p>
          <a:p>
            <a:endParaRPr lang="de-CH" b="1" dirty="0"/>
          </a:p>
          <a:p>
            <a:r>
              <a:rPr lang="de-CH" dirty="0"/>
              <a:t>Überprüfen Sie die Ergebnisse mit einer Simulation und Animation auf MATLAB.</a:t>
            </a:r>
            <a:endParaRPr lang="de-CH" b="1" dirty="0"/>
          </a:p>
        </p:txBody>
      </p:sp>
      <p:graphicFrame>
        <p:nvGraphicFramePr>
          <p:cNvPr id="8" name="Objekt 7">
            <a:extLst>
              <a:ext uri="{FF2B5EF4-FFF2-40B4-BE49-F238E27FC236}">
                <a16:creationId xmlns:a16="http://schemas.microsoft.com/office/drawing/2014/main" id="{11F79532-764B-4D49-85D5-84C121044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610214"/>
              </p:ext>
            </p:extLst>
          </p:nvPr>
        </p:nvGraphicFramePr>
        <p:xfrm>
          <a:off x="3935760" y="2950227"/>
          <a:ext cx="1311046" cy="1072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Formel" r:id="rId3" imgW="838200" imgH="711200" progId="Equation.3">
                  <p:embed/>
                </p:oleObj>
              </mc:Choice>
              <mc:Fallback>
                <p:oleObj name="Formel" r:id="rId3" imgW="838200" imgH="711200" progId="Equation.3">
                  <p:embed/>
                  <p:pic>
                    <p:nvPicPr>
                      <p:cNvPr id="12" name="Objek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2950227"/>
                        <a:ext cx="1311046" cy="10726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kt 9">
            <a:extLst>
              <a:ext uri="{FF2B5EF4-FFF2-40B4-BE49-F238E27FC236}">
                <a16:creationId xmlns:a16="http://schemas.microsoft.com/office/drawing/2014/main" id="{2D4733F3-0B48-4BB7-8A28-E179760654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750215"/>
              </p:ext>
            </p:extLst>
          </p:nvPr>
        </p:nvGraphicFramePr>
        <p:xfrm>
          <a:off x="6240017" y="2959279"/>
          <a:ext cx="1179997" cy="965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Formel" r:id="rId5" imgW="863225" imgH="710891" progId="Equation.3">
                  <p:embed/>
                </p:oleObj>
              </mc:Choice>
              <mc:Fallback>
                <p:oleObj name="Formel" r:id="rId5" imgW="863225" imgH="710891" progId="Equation.3">
                  <p:embed/>
                  <p:pic>
                    <p:nvPicPr>
                      <p:cNvPr id="14" name="Objek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7" y="2959279"/>
                        <a:ext cx="1179997" cy="9654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893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2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sp>
        <p:nvSpPr>
          <p:cNvPr id="9" name="Rechteck 8"/>
          <p:cNvSpPr/>
          <p:nvPr/>
        </p:nvSpPr>
        <p:spPr>
          <a:xfrm>
            <a:off x="2058380" y="1279590"/>
            <a:ext cx="8358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Kinematische Zusammenhänge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920" y="2060848"/>
            <a:ext cx="4008120" cy="4130040"/>
          </a:xfrm>
          <a:prstGeom prst="rect">
            <a:avLst/>
          </a:prstGeom>
        </p:spPr>
      </p:pic>
      <p:sp>
        <p:nvSpPr>
          <p:cNvPr id="11" name="Rechteck 10"/>
          <p:cNvSpPr/>
          <p:nvPr/>
        </p:nvSpPr>
        <p:spPr>
          <a:xfrm>
            <a:off x="6067288" y="2070177"/>
            <a:ext cx="41764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dirty="0"/>
              <a:t>Grundstellung festlegen (1 von 2 möglichen Stellungen)</a:t>
            </a:r>
          </a:p>
          <a:p>
            <a:endParaRPr lang="de-CH" sz="2000" dirty="0"/>
          </a:p>
          <a:p>
            <a:endParaRPr lang="de-CH" sz="2000" dirty="0"/>
          </a:p>
          <a:p>
            <a:endParaRPr lang="de-CH" sz="2000" dirty="0"/>
          </a:p>
          <a:p>
            <a:endParaRPr lang="de-CH" sz="2000" dirty="0"/>
          </a:p>
          <a:p>
            <a:r>
              <a:rPr lang="de-CH" sz="2000" dirty="0"/>
              <a:t>Ges: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hteck 11"/>
              <p:cNvSpPr/>
              <p:nvPr/>
            </p:nvSpPr>
            <p:spPr>
              <a:xfrm>
                <a:off x="7104113" y="3877662"/>
                <a:ext cx="1511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𝑇𝐶𝑃</m:t>
                          </m:r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2" name="Rechteck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113" y="3877662"/>
                <a:ext cx="1511631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hteck 13"/>
              <p:cNvSpPr/>
              <p:nvPr/>
            </p:nvSpPr>
            <p:spPr>
              <a:xfrm>
                <a:off x="7126052" y="4355812"/>
                <a:ext cx="15169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𝑇𝐶𝑃</m:t>
                          </m:r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4" name="Rechteck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052" y="4355812"/>
                <a:ext cx="1516954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hteck 14"/>
              <p:cNvSpPr/>
              <p:nvPr/>
            </p:nvSpPr>
            <p:spPr>
              <a:xfrm>
                <a:off x="6057069" y="3118280"/>
                <a:ext cx="24629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𝑇𝐶𝑃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5" name="Rechteck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069" y="3118280"/>
                <a:ext cx="2462982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26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3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sp>
        <p:nvSpPr>
          <p:cNvPr id="9" name="Rechteck 8"/>
          <p:cNvSpPr/>
          <p:nvPr/>
        </p:nvSpPr>
        <p:spPr>
          <a:xfrm>
            <a:off x="2058380" y="1279590"/>
            <a:ext cx="8358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Koordinatentransformation – Startsituation KS</a:t>
            </a:r>
            <a:r>
              <a:rPr lang="de-CH" sz="1400" b="1" dirty="0"/>
              <a:t>0</a:t>
            </a:r>
            <a:r>
              <a:rPr lang="de-CH" sz="2000" b="1" dirty="0"/>
              <a:t> </a:t>
            </a:r>
            <a:endParaRPr lang="de-CH" sz="1400" b="1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0" y="2060848"/>
            <a:ext cx="3611880" cy="39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4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69" y="2036028"/>
            <a:ext cx="6522720" cy="398526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4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sp>
        <p:nvSpPr>
          <p:cNvPr id="9" name="Rechteck 8"/>
          <p:cNvSpPr/>
          <p:nvPr/>
        </p:nvSpPr>
        <p:spPr>
          <a:xfrm>
            <a:off x="2058380" y="1279590"/>
            <a:ext cx="8358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Koordinatentransformation – Drehung um z-Achse mit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de-CH" sz="1400" b="1" dirty="0"/>
              <a:t>1</a:t>
            </a:r>
            <a:r>
              <a:rPr lang="de-CH" sz="2000" b="1" dirty="0"/>
              <a:t>: KS</a:t>
            </a:r>
            <a:r>
              <a:rPr lang="de-CH" sz="1400" b="1" dirty="0"/>
              <a:t>0 </a:t>
            </a:r>
            <a:r>
              <a:rPr lang="de-CH" sz="2000" b="1" dirty="0"/>
              <a:t>-&gt; KS</a:t>
            </a:r>
            <a:r>
              <a:rPr lang="de-CH" sz="1400" b="1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hteck 11"/>
              <p:cNvSpPr/>
              <p:nvPr/>
            </p:nvSpPr>
            <p:spPr>
              <a:xfrm>
                <a:off x="6898786" y="1751136"/>
                <a:ext cx="3517694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sSub>
                            <m:sSubPr>
                              <m:ctrlP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2" name="Rechteck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786" y="1751136"/>
                <a:ext cx="3517694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8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880" y="-364272"/>
            <a:ext cx="6248400" cy="638556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5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sp>
        <p:nvSpPr>
          <p:cNvPr id="9" name="Rechteck 8"/>
          <p:cNvSpPr/>
          <p:nvPr/>
        </p:nvSpPr>
        <p:spPr>
          <a:xfrm>
            <a:off x="2058380" y="1279590"/>
            <a:ext cx="8502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Koordinatentransformation – Verschiebung um l</a:t>
            </a:r>
            <a:r>
              <a:rPr lang="de-CH" sz="1400" b="1" dirty="0"/>
              <a:t>1</a:t>
            </a:r>
            <a:r>
              <a:rPr lang="de-CH" sz="2000" b="1" dirty="0"/>
              <a:t> in x-Richtung: KS</a:t>
            </a:r>
            <a:r>
              <a:rPr lang="de-CH" sz="1400" b="1" dirty="0"/>
              <a:t>1 </a:t>
            </a:r>
            <a:r>
              <a:rPr lang="de-CH" sz="2000" b="1" dirty="0"/>
              <a:t>-&gt; KS</a:t>
            </a:r>
            <a:r>
              <a:rPr lang="de-CH" sz="1400" b="1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hteck 11"/>
              <p:cNvSpPr/>
              <p:nvPr/>
            </p:nvSpPr>
            <p:spPr>
              <a:xfrm>
                <a:off x="8088424" y="1931126"/>
                <a:ext cx="2122376" cy="8306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sSub>
                            <m:sSubPr>
                              <m:ctrlP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CH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CH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de-CH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2" name="Rechteck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424" y="1931126"/>
                <a:ext cx="2122376" cy="8306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03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0" y="2060848"/>
            <a:ext cx="3901440" cy="398526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6</a:t>
            </a:fld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2058380" y="1279590"/>
            <a:ext cx="76380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Koordinatentransformation – Drehung um z-Achse mit </a:t>
            </a:r>
            <a:r>
              <a:rPr lang="el-GR" sz="2000" b="1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de-CH" sz="1400" b="1" dirty="0"/>
              <a:t>2</a:t>
            </a:r>
            <a:r>
              <a:rPr lang="de-CH" sz="2000" b="1" dirty="0"/>
              <a:t>: KS</a:t>
            </a:r>
            <a:r>
              <a:rPr lang="de-CH" sz="1400" b="1" dirty="0"/>
              <a:t>2 </a:t>
            </a:r>
            <a:r>
              <a:rPr lang="de-CH" sz="2000" b="1" dirty="0"/>
              <a:t>-&gt; KS</a:t>
            </a:r>
            <a:r>
              <a:rPr lang="de-CH" sz="1400" b="1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hteck 9"/>
              <p:cNvSpPr/>
              <p:nvPr/>
            </p:nvSpPr>
            <p:spPr>
              <a:xfrm>
                <a:off x="1686785" y="3326534"/>
                <a:ext cx="3616888" cy="9840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sSub>
                            <m:sSubPr>
                              <m:ctrlP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𝒔𝒊𝒏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b="1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𝒄𝒐𝒔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0" name="Rechtec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785" y="3326534"/>
                <a:ext cx="3616888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79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873" y="2060848"/>
            <a:ext cx="4168140" cy="657606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7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sp>
        <p:nvSpPr>
          <p:cNvPr id="9" name="Rechteck 8"/>
          <p:cNvSpPr/>
          <p:nvPr/>
        </p:nvSpPr>
        <p:spPr>
          <a:xfrm>
            <a:off x="2058380" y="1279590"/>
            <a:ext cx="8502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Koordinatentransformation – Verschiebung um l</a:t>
            </a:r>
            <a:r>
              <a:rPr lang="de-CH" sz="1400" b="1" dirty="0"/>
              <a:t>2</a:t>
            </a:r>
            <a:r>
              <a:rPr lang="de-CH" sz="2000" b="1" dirty="0"/>
              <a:t> in x-Richtung von KS</a:t>
            </a:r>
            <a:r>
              <a:rPr lang="de-CH" sz="1400" b="1" dirty="0"/>
              <a:t>3 </a:t>
            </a:r>
            <a:r>
              <a:rPr lang="de-CH" sz="2000" b="1" dirty="0"/>
              <a:t>-&gt; KS</a:t>
            </a:r>
            <a:r>
              <a:rPr lang="de-CH" sz="1400" b="1" dirty="0"/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hteck 9"/>
              <p:cNvSpPr/>
              <p:nvPr/>
            </p:nvSpPr>
            <p:spPr>
              <a:xfrm>
                <a:off x="8088424" y="1931126"/>
                <a:ext cx="1301638" cy="8306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CH" b="1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de-CH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CH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CH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CH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𝒍</m:t>
                                    </m:r>
                                  </m:e>
                                  <m:sub>
                                    <m:r>
                                      <a:rPr lang="de-CH" b="1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0" name="Rechtec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424" y="1931126"/>
                <a:ext cx="1301638" cy="8306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9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Robotik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8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hteck 7"/>
              <p:cNvSpPr/>
              <p:nvPr/>
            </p:nvSpPr>
            <p:spPr>
              <a:xfrm>
                <a:off x="2268358" y="1823717"/>
                <a:ext cx="8068427" cy="12848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𝑇𝐶𝑃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de-CH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de-CH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    =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𝑠𝑖𝑛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𝑐𝑜𝑠</m:t>
                                </m:r>
                                <m:d>
                                  <m:d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de-CH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de-CH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de-CH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e-CH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e-CH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e-CH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CH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e-CH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e-CH" i="1" dirty="0"/>
              </a:p>
            </p:txBody>
          </p:sp>
        </mc:Choice>
        <mc:Fallback>
          <p:sp>
            <p:nvSpPr>
              <p:cNvPr id="8" name="Rechteck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358" y="1823717"/>
                <a:ext cx="8068427" cy="1284839"/>
              </a:xfrm>
              <a:prstGeom prst="rect">
                <a:avLst/>
              </a:prstGeom>
              <a:blipFill>
                <a:blip r:embed="rId2"/>
                <a:stretch>
                  <a:fillRect t="-616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/>
          <p:cNvSpPr/>
          <p:nvPr/>
        </p:nvSpPr>
        <p:spPr>
          <a:xfrm>
            <a:off x="2058380" y="1279590"/>
            <a:ext cx="8502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Koordinatentransformation – Berechnung des TCP</a:t>
            </a:r>
            <a:endParaRPr lang="de-CH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hteck 13"/>
              <p:cNvSpPr/>
              <p:nvPr/>
            </p:nvSpPr>
            <p:spPr>
              <a:xfrm>
                <a:off x="2268358" y="3490909"/>
                <a:ext cx="1511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𝑇𝐶𝑃</m:t>
                          </m:r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4" name="Rechteck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358" y="3490909"/>
                <a:ext cx="1511631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hteck 14"/>
              <p:cNvSpPr/>
              <p:nvPr/>
            </p:nvSpPr>
            <p:spPr>
              <a:xfrm>
                <a:off x="4127160" y="3490909"/>
                <a:ext cx="15169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𝑇𝐶𝑃</m:t>
                          </m:r>
                        </m:e>
                      </m:d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5" name="Rechteck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160" y="3490909"/>
                <a:ext cx="1516954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/>
          <p:cNvSpPr/>
          <p:nvPr/>
        </p:nvSpPr>
        <p:spPr>
          <a:xfrm>
            <a:off x="2058380" y="4081238"/>
            <a:ext cx="8502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Startwinkel des TCP</a:t>
            </a:r>
            <a:endParaRPr lang="de-CH" sz="1400" b="1" dirty="0"/>
          </a:p>
        </p:txBody>
      </p:sp>
      <p:sp>
        <p:nvSpPr>
          <p:cNvPr id="17" name="Rechteck 16"/>
          <p:cNvSpPr/>
          <p:nvPr/>
        </p:nvSpPr>
        <p:spPr>
          <a:xfrm>
            <a:off x="2058380" y="5229200"/>
            <a:ext cx="85021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Endwinkel des TCP</a:t>
            </a:r>
            <a:endParaRPr lang="de-CH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hteck 17"/>
              <p:cNvSpPr/>
              <p:nvPr/>
            </p:nvSpPr>
            <p:spPr>
              <a:xfrm>
                <a:off x="2268358" y="4438854"/>
                <a:ext cx="359925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1.5208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𝑟𝑎𝑑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      87.1366°</m:t>
                      </m:r>
                    </m:oMath>
                  </m:oMathPara>
                </a14:m>
                <a:endParaRPr lang="de-CH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−3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0415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𝑟𝑎𝑑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=−174.2671°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8" name="Rechteck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358" y="4438854"/>
                <a:ext cx="35992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hteck 18"/>
              <p:cNvSpPr/>
              <p:nvPr/>
            </p:nvSpPr>
            <p:spPr>
              <a:xfrm>
                <a:off x="2178126" y="5615449"/>
                <a:ext cx="370184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 1.3130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𝑟𝑎𝑑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     75.2317°</m:t>
                      </m:r>
                    </m:oMath>
                  </m:oMathPara>
                </a14:m>
                <a:endParaRPr lang="de-CH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CH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−2.0432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𝑟𝑎𝑑</m:t>
                      </m:r>
                      <m:r>
                        <a:rPr lang="de-CH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=−117.0649°</m:t>
                      </m:r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19" name="Rechteck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126" y="5615449"/>
                <a:ext cx="370184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93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9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sp>
        <p:nvSpPr>
          <p:cNvPr id="8" name="Rechteck 7"/>
          <p:cNvSpPr/>
          <p:nvPr/>
        </p:nvSpPr>
        <p:spPr>
          <a:xfrm>
            <a:off x="2058380" y="1279591"/>
            <a:ext cx="850211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CH" sz="2000" b="1" dirty="0"/>
              <a:t>Bewegung plotten</a:t>
            </a:r>
          </a:p>
          <a:p>
            <a:endParaRPr lang="de-CH" sz="2000" b="1" dirty="0"/>
          </a:p>
          <a:p>
            <a:r>
              <a:rPr lang="de-CH" sz="2000" dirty="0"/>
              <a:t>Linienzug vom Ursprung KS</a:t>
            </a:r>
            <a:r>
              <a:rPr lang="de-CH" sz="1400" dirty="0"/>
              <a:t>0</a:t>
            </a:r>
            <a:r>
              <a:rPr lang="de-CH" sz="2000" dirty="0"/>
              <a:t> nach Gelenk Achse 2 zum TCP in einer Schleife kontinuierlich aufzeichnen</a:t>
            </a:r>
          </a:p>
          <a:p>
            <a:endParaRPr lang="de-CH" sz="2000" dirty="0"/>
          </a:p>
          <a:p>
            <a:r>
              <a:rPr lang="de-CH" sz="2000" dirty="0" err="1"/>
              <a:t>Matlab</a:t>
            </a:r>
            <a:r>
              <a:rPr lang="de-CH" sz="2000" dirty="0"/>
              <a:t>:</a:t>
            </a:r>
          </a:p>
          <a:p>
            <a:endParaRPr lang="de-CH" sz="2000" dirty="0"/>
          </a:p>
          <a:p>
            <a:r>
              <a:rPr lang="de-CH" sz="2000" dirty="0" err="1"/>
              <a:t>for</a:t>
            </a:r>
            <a:r>
              <a:rPr lang="de-CH" sz="2000" dirty="0"/>
              <a:t> i = 1 : n,</a:t>
            </a:r>
          </a:p>
          <a:p>
            <a:r>
              <a:rPr lang="de-CH" sz="2000" dirty="0"/>
              <a:t>  </a:t>
            </a:r>
            <a:r>
              <a:rPr lang="de-CH" sz="2000" dirty="0" err="1"/>
              <a:t>plot</a:t>
            </a:r>
            <a:r>
              <a:rPr lang="de-CH" sz="2000" dirty="0"/>
              <a:t>([0 l</a:t>
            </a:r>
            <a:r>
              <a:rPr lang="de-CH" sz="1200" dirty="0"/>
              <a:t>1</a:t>
            </a:r>
            <a:r>
              <a:rPr lang="de-CH" sz="2000" dirty="0"/>
              <a:t>*cos(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  <a:r>
              <a:rPr lang="de-CH" sz="2000" dirty="0"/>
              <a:t>) </a:t>
            </a:r>
            <a:r>
              <a:rPr lang="de-CH" sz="2000" dirty="0" err="1"/>
              <a:t>x</a:t>
            </a:r>
            <a:r>
              <a:rPr lang="de-CH" sz="1200" dirty="0" err="1"/>
              <a:t>TCP</a:t>
            </a:r>
            <a:r>
              <a:rPr lang="de-CH" sz="2000" dirty="0"/>
              <a:t>(i)], [0 l</a:t>
            </a:r>
            <a:r>
              <a:rPr lang="de-CH" sz="1200" dirty="0"/>
              <a:t>1</a:t>
            </a:r>
            <a:r>
              <a:rPr lang="de-CH" sz="2000" dirty="0"/>
              <a:t>*sin(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  <a:r>
              <a:rPr lang="de-CH" sz="2000" dirty="0"/>
              <a:t>) </a:t>
            </a:r>
            <a:r>
              <a:rPr lang="de-CH" sz="2000" dirty="0" err="1"/>
              <a:t>y</a:t>
            </a:r>
            <a:r>
              <a:rPr lang="de-CH" sz="1200" dirty="0" err="1"/>
              <a:t>TCP</a:t>
            </a:r>
            <a:r>
              <a:rPr lang="de-CH" sz="2000" dirty="0"/>
              <a:t>(i)])</a:t>
            </a:r>
          </a:p>
          <a:p>
            <a:r>
              <a:rPr lang="de-CH" sz="2000" dirty="0"/>
              <a:t>end; </a:t>
            </a:r>
            <a:endParaRPr lang="de-CH" sz="1400" dirty="0"/>
          </a:p>
        </p:txBody>
      </p:sp>
    </p:spTree>
    <p:extLst>
      <p:ext uri="{BB962C8B-B14F-4D97-AF65-F5344CB8AC3E}">
        <p14:creationId xmlns:p14="http://schemas.microsoft.com/office/powerpoint/2010/main" val="58430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G.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10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pic>
        <p:nvPicPr>
          <p:cNvPr id="7" name="Grafik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152" y="1556792"/>
            <a:ext cx="4716016" cy="333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fik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0" y="1628800"/>
            <a:ext cx="4606300" cy="34563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866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de-CH" dirty="0"/>
              <a:t>Aufgabe </a:t>
            </a:r>
            <a:r>
              <a:rPr lang="de-CH" dirty="0" err="1"/>
              <a:t>Scara</a:t>
            </a:r>
            <a:r>
              <a:rPr lang="de-CH" dirty="0"/>
              <a:t> - Bahnberechnung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G</a:t>
            </a:r>
            <a:r>
              <a:rPr lang="de-DE" dirty="0"/>
              <a:t>. Nagel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Robotik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t>11</a:t>
            </a:fld>
            <a:endParaRPr lang="de-DE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75384" y="216179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  <p:pic>
        <p:nvPicPr>
          <p:cNvPr id="9" name="Grafik 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700" y="1398198"/>
            <a:ext cx="5326380" cy="399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fik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992" y="1417638"/>
            <a:ext cx="5326380" cy="3992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8241237"/>
      </p:ext>
    </p:extLst>
  </p:cSld>
  <p:clrMapOvr>
    <a:masterClrMapping/>
  </p:clrMapOvr>
</p:sld>
</file>

<file path=ppt/theme/theme1.xml><?xml version="1.0" encoding="utf-8"?>
<a:theme xmlns:a="http://schemas.openxmlformats.org/drawingml/2006/main" name="OST-Vorlage">
  <a:themeElements>
    <a:clrScheme name="OST-Farben_komplett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56276D"/>
      </a:accent1>
      <a:accent2>
        <a:srgbClr val="C397C4"/>
      </a:accent2>
      <a:accent3>
        <a:srgbClr val="146C58"/>
      </a:accent3>
      <a:accent4>
        <a:srgbClr val="99CCB5"/>
      </a:accent4>
      <a:accent5>
        <a:srgbClr val="B21D19"/>
      </a:accent5>
      <a:accent6>
        <a:srgbClr val="EC867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rmAutofit/>
      </a:bodyPr>
      <a:lstStyle>
        <a:defPPr marL="252000" indent="-252000" algn="l">
          <a:buClr>
            <a:schemeClr val="tx2"/>
          </a:buClr>
          <a:buFont typeface="Systemschrift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-Vorlage_Musterfolien-Anleitung.pptx" id="{176CAADA-5492-4D29-83DE-E6F1FBA01FA0}" vid="{0ACC6E25-0205-4614-8588-EC9605015F0E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434</Words>
  <Application>Microsoft Office PowerPoint</Application>
  <PresentationFormat>Breitbild</PresentationFormat>
  <Paragraphs>97</Paragraphs>
  <Slides>11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Symbol</vt:lpstr>
      <vt:lpstr>Times New Roman</vt:lpstr>
      <vt:lpstr>OST-Vorlage</vt:lpstr>
      <vt:lpstr>Formel</vt:lpstr>
      <vt:lpstr>Aufgabe Scara - Bahnberechnung</vt:lpstr>
      <vt:lpstr>Aufgabe Scara - Bahnberechnung</vt:lpstr>
      <vt:lpstr>Aufgabe Scara - Bahnberechnung</vt:lpstr>
      <vt:lpstr>Aufgabe Scara - Bahnberechnung</vt:lpstr>
      <vt:lpstr>Aufgabe Scara - Bahnberechnung</vt:lpstr>
      <vt:lpstr>Aufgabe Scara - Bahnberechnung</vt:lpstr>
      <vt:lpstr>Aufgabe Scara - Bahnberechnung</vt:lpstr>
      <vt:lpstr>Aufgabe Scara - Bahnberechnung</vt:lpstr>
      <vt:lpstr>Aufgabe Scara - Bahnberechnung</vt:lpstr>
      <vt:lpstr>Aufgabe Scara - Bahnberechnung</vt:lpstr>
      <vt:lpstr>Aufgabe Scara - Bahnberechnung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Zurbrügg Thomas (zurb)</dc:creator>
  <cp:lastModifiedBy>Günter Nagel</cp:lastModifiedBy>
  <cp:revision>116</cp:revision>
  <cp:lastPrinted>2021-03-15T13:13:55Z</cp:lastPrinted>
  <dcterms:created xsi:type="dcterms:W3CDTF">2015-09-15T08:08:00Z</dcterms:created>
  <dcterms:modified xsi:type="dcterms:W3CDTF">2021-03-15T13:14:06Z</dcterms:modified>
</cp:coreProperties>
</file>